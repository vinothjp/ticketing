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693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Position the product as one unified platform replacing 4-5 disconnected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tool sprawl. The promise: one consolidated, profitable system of record for client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modules. Emphasize they share one data model — a ticket, its project, the time logged and the resulting charge are all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differentiators: multi-tenancy, permission-first, delivery+finance in one, and web/mobile+API. This is the moat vs. point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 next step: a tailored live demo. Swap in real contact details and any pricing/rollout specifics.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roundRect">
            <a:avLst>
              <a:gd name="adj" fmla="val 50000"/>
            </a:avLst>
          </a:prstGeom>
          <a:solidFill>
            <a:srgbClr val="1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9768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2232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CLIENT-SERVICE PLATFORM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9326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platform for every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ticket, project &amp; client.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desk, project delivery, knowledge base, timesheets and client billing — unified in a single, secure, multi-tenant system.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1667866" cy="457200"/>
          </a:xfrm>
          <a:prstGeom prst="roundRect">
            <a:avLst>
              <a:gd name="adj" fmla="val 50000"/>
            </a:avLst>
          </a:prstGeom>
          <a:solidFill>
            <a:srgbClr val="22325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1667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&amp; SLA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19426" y="5029200"/>
            <a:ext cx="1174090" cy="457200"/>
          </a:xfrm>
          <a:prstGeom prst="roundRect">
            <a:avLst>
              <a:gd name="adj" fmla="val 50000"/>
            </a:avLst>
          </a:prstGeom>
          <a:solidFill>
            <a:srgbClr val="22325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9426" y="5029200"/>
            <a:ext cx="117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22115" y="5029200"/>
            <a:ext cx="1766621" cy="457200"/>
          </a:xfrm>
          <a:prstGeom prst="roundRect">
            <a:avLst>
              <a:gd name="adj" fmla="val 50000"/>
            </a:avLst>
          </a:prstGeom>
          <a:solidFill>
            <a:srgbClr val="22325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2115" y="5029200"/>
            <a:ext cx="1766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17336" y="5029200"/>
            <a:ext cx="1075334" cy="457200"/>
          </a:xfrm>
          <a:prstGeom prst="roundRect">
            <a:avLst>
              <a:gd name="adj" fmla="val 50000"/>
            </a:avLst>
          </a:prstGeom>
          <a:solidFill>
            <a:srgbClr val="22325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5029200"/>
            <a:ext cx="10753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teams switch to 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paying for — and switching between — a helpdesk, a PM tool, a wiki and a spreadsheet.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7665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CA0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3055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2262226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not five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55648" y="240487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projects, docs, time and billing share the same clients, users and data — no more copy-paste between tools.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67665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CA0BC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45643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358810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resolution, on time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55648" y="373075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timers, priorities and email-to-ticket keep every request tracked and answered before it breaches.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526280"/>
            <a:ext cx="67665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CA0BC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78231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4913986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money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55648" y="5056632"/>
            <a:ext cx="5532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budgets, resource costs and billable change requests so every project stays profitable.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26680" y="1874520"/>
            <a:ext cx="3794760" cy="3950208"/>
          </a:xfrm>
          <a:prstGeom prst="roundRect">
            <a:avLst>
              <a:gd name="adj" fmla="val 3855"/>
            </a:avLst>
          </a:prstGeom>
          <a:solidFill>
            <a:srgbClr val="0E1726"/>
          </a:solidFill>
          <a:ln/>
          <a:effectLst>
            <a:outerShdw blurRad="127000" dist="38100" dir="5400000" algn="bl" rotWithShape="0">
              <a:srgbClr val="6B7B96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00100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consolidate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01000" y="26060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5-in-1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8001000" y="3264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replaced by one login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01000" y="36850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8001000" y="4343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 tied to a client &amp; budget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01000" y="476402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24/7</a:t>
            </a:r>
            <a:endParaRPr lang="en-US" sz="4000" dirty="0"/>
          </a:p>
        </p:txBody>
      </p:sp>
      <p:sp>
        <p:nvSpPr>
          <p:cNvPr id="26" name="Text 21"/>
          <p:cNvSpPr/>
          <p:nvPr/>
        </p:nvSpPr>
        <p:spPr>
          <a:xfrm>
            <a:off x="8001000" y="5422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email-to-ticket capture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your team needs, in one place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client-delivery suite — each module works on its own and 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38728" cy="2212848"/>
          </a:xfrm>
          <a:prstGeom prst="roundRect">
            <a:avLst>
              <a:gd name="adj" fmla="val 5785"/>
            </a:avLst>
          </a:prstGeom>
          <a:solidFill>
            <a:srgbClr val="1B2942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8424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2126894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282549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&amp; SLA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50976" y="320954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support desk with priorities, approvals, SLA timers and inbound email-to-ticket.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2544" y="1691640"/>
            <a:ext cx="3538728" cy="2212848"/>
          </a:xfrm>
          <a:prstGeom prst="roundRect">
            <a:avLst>
              <a:gd name="adj" fmla="val 5785"/>
            </a:avLst>
          </a:prstGeom>
          <a:solidFill>
            <a:srgbClr val="1B2942"/>
          </a:solidFill>
          <a:ln/>
        </p:spPr>
      </p:sp>
      <p:sp>
        <p:nvSpPr>
          <p:cNvPr id="10" name="Shape 7"/>
          <p:cNvSpPr/>
          <p:nvPr/>
        </p:nvSpPr>
        <p:spPr>
          <a:xfrm>
            <a:off x="4645152" y="198424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798" y="2126894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2549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320954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work with Gantt timelines, tasks, resources, budgets and project registers.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65008" y="1691640"/>
            <a:ext cx="3538728" cy="2212848"/>
          </a:xfrm>
          <a:prstGeom prst="roundRect">
            <a:avLst>
              <a:gd name="adj" fmla="val 5785"/>
            </a:avLst>
          </a:prstGeom>
          <a:solidFill>
            <a:srgbClr val="1B2942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7616" y="1984248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262" y="2126894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82549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75904" y="3209544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articles and internal docs that cut repeat questions and speed onboarding.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087368"/>
            <a:ext cx="3538728" cy="2212848"/>
          </a:xfrm>
          <a:prstGeom prst="roundRect">
            <a:avLst>
              <a:gd name="adj" fmla="val 5785"/>
            </a:avLst>
          </a:prstGeom>
          <a:solidFill>
            <a:srgbClr val="1B2942"/>
          </a:solidFill>
          <a:ln/>
        </p:spPr>
      </p:sp>
      <p:sp>
        <p:nvSpPr>
          <p:cNvPr id="20" name="Shape 15"/>
          <p:cNvSpPr/>
          <p:nvPr/>
        </p:nvSpPr>
        <p:spPr>
          <a:xfrm>
            <a:off x="932688" y="4379976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" y="4522622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0976" y="522122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50976" y="5605272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time against tickets and projects to measure effort, cost and profitability.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52544" y="4087368"/>
            <a:ext cx="3538728" cy="2212848"/>
          </a:xfrm>
          <a:prstGeom prst="roundRect">
            <a:avLst>
              <a:gd name="adj" fmla="val 5785"/>
            </a:avLst>
          </a:prstGeom>
          <a:solidFill>
            <a:srgbClr val="1B294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45152" y="4379976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7798" y="4522622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522122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 Billing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663440" y="5605272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scope changes into tracked, billable customer charges with an invoice budget guard.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65008" y="4087368"/>
            <a:ext cx="3538728" cy="2212848"/>
          </a:xfrm>
          <a:prstGeom prst="roundRect">
            <a:avLst>
              <a:gd name="adj" fmla="val 5785"/>
            </a:avLst>
          </a:prstGeom>
          <a:solidFill>
            <a:srgbClr val="1B2942"/>
          </a:solidFill>
          <a:ln/>
        </p:spPr>
      </p:sp>
      <p:sp>
        <p:nvSpPr>
          <p:cNvPr id="30" name="Shape 23"/>
          <p:cNvSpPr/>
          <p:nvPr/>
        </p:nvSpPr>
        <p:spPr>
          <a:xfrm>
            <a:off x="8357616" y="4379976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0262" y="4522622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75904" y="5221224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Security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375904" y="5605272"/>
            <a:ext cx="2990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role-based access controls exactly what each user can see and do.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makes us different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another helpdesk — a connected system of record for client 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CA0BC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756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2219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7088" y="209397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multi-tenant SaaS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847088" y="2532888"/>
            <a:ext cx="3959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many client organisations from one secure platform, each fully isolated — ideal for agencies and MSPs.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40680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CA0BC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56248" y="2075688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222199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70648" y="209397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Permission-first design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470648" y="2532888"/>
            <a:ext cx="3959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is built into every screen and record, not bolted on — enterprise-grade governance by default.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50208"/>
            <a:ext cx="5440680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CA0BC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242816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38912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47088" y="426110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meets finance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847088" y="4700016"/>
            <a:ext cx="3959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workflow that links support, projects, time and billing — so profitability is visible, not guessed.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950208"/>
            <a:ext cx="5440680" cy="196596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CA0BC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56248" y="4242816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DD4B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438912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426110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 ready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470648" y="4700016"/>
            <a:ext cx="3959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A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API powers browser and native mobile, with modern React UI and open Swagger docs for integrations.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566160"/>
            <a:ext cx="4937760" cy="4937760"/>
          </a:xfrm>
          <a:prstGeom prst="roundRect">
            <a:avLst>
              <a:gd name="adj" fmla="val 50000"/>
            </a:avLst>
          </a:prstGeom>
          <a:solidFill>
            <a:srgbClr val="1B294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554480"/>
            <a:ext cx="4023360" cy="4023360"/>
          </a:xfrm>
          <a:prstGeom prst="roundRect">
            <a:avLst>
              <a:gd name="adj" fmla="val 50000"/>
            </a:avLst>
          </a:prstGeom>
          <a:solidFill>
            <a:srgbClr val="2232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your entire client</a:t>
            </a:r>
            <a:endParaRPr lang="en-US" sz="44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operation from one place.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schedule a walkthrough with your team and tailor a rollout to your workflow.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926080" cy="65836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548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live demo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7640" y="475488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223252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314" y="4886554"/>
            <a:ext cx="395021" cy="3950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541</Words>
  <Application>Microsoft Office PowerPoint</Application>
  <PresentationFormat>Widescreen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Aadil</cp:lastModifiedBy>
  <cp:revision>2</cp:revision>
  <dcterms:created xsi:type="dcterms:W3CDTF">2026-08-09T07:10:58Z</dcterms:created>
  <dcterms:modified xsi:type="dcterms:W3CDTF">2026-08-09T07:16:16Z</dcterms:modified>
</cp:coreProperties>
</file>